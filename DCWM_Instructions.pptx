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c9ed8952b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c9ed895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c9ed8952b_0_31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c9ed8952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c9ed8952b_0_27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c9ed8952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c9ed8952b_0_18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c9ed8952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c9ed8952b_0_49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c9ed8952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c9ed8952b_0_35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c9ed8952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c9ed8952b_0_40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c9ed8952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ca2c8c002_0_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ca2c8c00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ca2c8c002_0_24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ca2c8c00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c9ed8952b_0_53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c9ed8952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ca2c8c002_0_28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ca2c8c00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ca2c8c002_0_32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ca2c8c00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ca2c8c002_0_36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ca2c8c00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c9ed8952b_0_44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c9ed8952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c9ed8952b_0_23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c9ed8952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ca2c8c002_0_73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ca2c8c00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c9ed8952b_0_112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c9ed8952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c9ed8952b_0_124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c9ed8952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ca2c8c002_0_77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ca2c8c00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c9ed8952b_0_137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c9ed8952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27306"/>
            <a:ext cx="8520600" cy="22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229028"/>
            <a:ext cx="8520600" cy="21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Sequence 1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2097067" y="2219700"/>
            <a:ext cx="1417200" cy="12756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152425" y="2687550"/>
            <a:ext cx="1306500" cy="33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IMAGE 1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536609" y="2218030"/>
            <a:ext cx="1420384" cy="1278934"/>
            <a:chOff x="200950" y="1608750"/>
            <a:chExt cx="1882800" cy="1695300"/>
          </a:xfrm>
        </p:grpSpPr>
        <p:sp>
          <p:nvSpPr>
            <p:cNvPr id="58" name="Google Shape;58;p13"/>
            <p:cNvSpPr/>
            <p:nvPr/>
          </p:nvSpPr>
          <p:spPr>
            <a:xfrm>
              <a:off x="200950" y="1608750"/>
              <a:ext cx="1882800" cy="1695300"/>
            </a:xfrm>
            <a:prstGeom prst="rect">
              <a:avLst/>
            </a:prstGeom>
            <a:solidFill>
              <a:srgbClr val="A7A7A7"/>
            </a:solidFill>
            <a:ln>
              <a:noFill/>
            </a:ln>
          </p:spPr>
          <p:txBody>
            <a:bodyPr anchorCtr="0" anchor="ctr" bIns="68975" lIns="68975" spcFirstLastPara="1" rIns="68975" wrap="square" tIns="68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6"/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982450" y="2230750"/>
              <a:ext cx="319800" cy="451200"/>
            </a:xfrm>
            <a:prstGeom prst="rect">
              <a:avLst/>
            </a:prstGeom>
            <a:solidFill>
              <a:srgbClr val="A7A7A7"/>
            </a:solidFill>
            <a:ln>
              <a:noFill/>
            </a:ln>
          </p:spPr>
          <p:txBody>
            <a:bodyPr anchorCtr="0" anchor="ctr" bIns="68975" lIns="68975" spcFirstLastPara="1" rIns="68975" wrap="square" tIns="68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7">
                  <a:solidFill>
                    <a:schemeClr val="dk1"/>
                  </a:solidFill>
                </a:rPr>
                <a:t>+</a:t>
              </a:r>
              <a:endParaRPr sz="1357">
                <a:solidFill>
                  <a:schemeClr val="dk1"/>
                </a:solidFill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3654359" y="2218030"/>
            <a:ext cx="1420384" cy="1278934"/>
            <a:chOff x="200950" y="1608750"/>
            <a:chExt cx="1882800" cy="1695300"/>
          </a:xfrm>
        </p:grpSpPr>
        <p:sp>
          <p:nvSpPr>
            <p:cNvPr id="61" name="Google Shape;61;p13"/>
            <p:cNvSpPr/>
            <p:nvPr/>
          </p:nvSpPr>
          <p:spPr>
            <a:xfrm>
              <a:off x="200950" y="1608750"/>
              <a:ext cx="1882800" cy="1695300"/>
            </a:xfrm>
            <a:prstGeom prst="rect">
              <a:avLst/>
            </a:prstGeom>
            <a:solidFill>
              <a:srgbClr val="A7A7A7"/>
            </a:solidFill>
            <a:ln>
              <a:noFill/>
            </a:ln>
          </p:spPr>
          <p:txBody>
            <a:bodyPr anchorCtr="0" anchor="ctr" bIns="68975" lIns="68975" spcFirstLastPara="1" rIns="68975" wrap="square" tIns="68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6"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982450" y="2230750"/>
              <a:ext cx="319800" cy="451200"/>
            </a:xfrm>
            <a:prstGeom prst="rect">
              <a:avLst/>
            </a:prstGeom>
            <a:solidFill>
              <a:srgbClr val="A7A7A7"/>
            </a:solidFill>
            <a:ln>
              <a:noFill/>
            </a:ln>
          </p:spPr>
          <p:txBody>
            <a:bodyPr anchorCtr="0" anchor="ctr" bIns="68975" lIns="68975" spcFirstLastPara="1" rIns="68975" wrap="square" tIns="68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7">
                  <a:solidFill>
                    <a:schemeClr val="dk1"/>
                  </a:solidFill>
                </a:rPr>
                <a:t>+</a:t>
              </a:r>
              <a:endParaRPr sz="1357">
                <a:solidFill>
                  <a:schemeClr val="dk1"/>
                </a:solidFill>
              </a:endParaRPr>
            </a:p>
          </p:txBody>
        </p:sp>
      </p:grpSp>
      <p:sp>
        <p:nvSpPr>
          <p:cNvPr id="63" name="Google Shape;63;p13"/>
          <p:cNvSpPr/>
          <p:nvPr/>
        </p:nvSpPr>
        <p:spPr>
          <a:xfrm>
            <a:off x="5214817" y="2219700"/>
            <a:ext cx="1417200" cy="12756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5270175" y="2687550"/>
            <a:ext cx="1306500" cy="33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IMAGE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6772092" y="2218025"/>
            <a:ext cx="1417200" cy="12756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6827450" y="2685875"/>
            <a:ext cx="1306500" cy="33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INSTR.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6856" cy="571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713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6856" cy="571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71499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0" y="4908300"/>
            <a:ext cx="1804800" cy="8067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713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71321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/>
          <p:nvPr/>
        </p:nvSpPr>
        <p:spPr>
          <a:xfrm>
            <a:off x="0" y="4908300"/>
            <a:ext cx="1804800" cy="8067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/>
          <p:nvPr/>
        </p:nvSpPr>
        <p:spPr>
          <a:xfrm>
            <a:off x="3608925" y="3036350"/>
            <a:ext cx="1936800" cy="193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/>
          <p:nvPr/>
        </p:nvSpPr>
        <p:spPr>
          <a:xfrm>
            <a:off x="3608925" y="756700"/>
            <a:ext cx="1936800" cy="193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3"/>
            <a:ext cx="9144001" cy="5713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/>
          <p:nvPr/>
        </p:nvSpPr>
        <p:spPr>
          <a:xfrm>
            <a:off x="6228300" y="1501750"/>
            <a:ext cx="381000" cy="793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/>
          <p:nvPr/>
        </p:nvSpPr>
        <p:spPr>
          <a:xfrm rot="10800000">
            <a:off x="6228300" y="3419450"/>
            <a:ext cx="381000" cy="793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6609300" y="1739950"/>
            <a:ext cx="153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Press up!</a:t>
            </a:r>
            <a:endParaRPr sz="1800">
              <a:solidFill>
                <a:srgbClr val="00FFFF"/>
              </a:solidFill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6609300" y="3657650"/>
            <a:ext cx="153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Press down!</a:t>
            </a:r>
            <a:endParaRPr sz="1800">
              <a:solidFill>
                <a:srgbClr val="00FFFF"/>
              </a:solidFill>
            </a:endParaRPr>
          </a:p>
        </p:txBody>
      </p:sp>
      <p:grpSp>
        <p:nvGrpSpPr>
          <p:cNvPr id="110" name="Google Shape;110;p20"/>
          <p:cNvGrpSpPr/>
          <p:nvPr/>
        </p:nvGrpSpPr>
        <p:grpSpPr>
          <a:xfrm>
            <a:off x="239050" y="2960274"/>
            <a:ext cx="3220553" cy="2012881"/>
            <a:chOff x="0" y="0"/>
            <a:chExt cx="4101048" cy="2563200"/>
          </a:xfrm>
        </p:grpSpPr>
        <p:pic>
          <p:nvPicPr>
            <p:cNvPr id="111" name="Google Shape;111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4101048" cy="2563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20"/>
            <p:cNvSpPr/>
            <p:nvPr/>
          </p:nvSpPr>
          <p:spPr>
            <a:xfrm>
              <a:off x="0" y="2050800"/>
              <a:ext cx="687900" cy="512400"/>
            </a:xfrm>
            <a:prstGeom prst="rect">
              <a:avLst/>
            </a:prstGeom>
            <a:solidFill>
              <a:srgbClr val="A7A7A7"/>
            </a:solidFill>
            <a:ln>
              <a:noFill/>
            </a:ln>
          </p:spPr>
          <p:txBody>
            <a:bodyPr anchorCtr="0" anchor="ctr" bIns="71800" lIns="71800" spcFirstLastPara="1" rIns="71800" wrap="square" tIns="7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9"/>
            </a:p>
          </p:txBody>
        </p:sp>
      </p:grpSp>
      <p:sp>
        <p:nvSpPr>
          <p:cNvPr id="113" name="Google Shape;113;p20"/>
          <p:cNvSpPr/>
          <p:nvPr/>
        </p:nvSpPr>
        <p:spPr>
          <a:xfrm>
            <a:off x="3774800" y="3596900"/>
            <a:ext cx="1651200" cy="8505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872975" y="4595350"/>
            <a:ext cx="19527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(not shown)</a:t>
            </a:r>
            <a:endParaRPr sz="1800">
              <a:solidFill>
                <a:srgbClr val="00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Sequence 2</a:t>
            </a:r>
            <a:endParaRPr/>
          </a:p>
        </p:txBody>
      </p:sp>
      <p:sp>
        <p:nvSpPr>
          <p:cNvPr id="120" name="Google Shape;120;p21"/>
          <p:cNvSpPr/>
          <p:nvPr/>
        </p:nvSpPr>
        <p:spPr>
          <a:xfrm>
            <a:off x="3673992" y="2218025"/>
            <a:ext cx="1417200" cy="12756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 txBox="1"/>
          <p:nvPr/>
        </p:nvSpPr>
        <p:spPr>
          <a:xfrm>
            <a:off x="3729350" y="2685875"/>
            <a:ext cx="1306500" cy="33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IMAGE 1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22" name="Google Shape;122;p21"/>
          <p:cNvGrpSpPr/>
          <p:nvPr/>
        </p:nvGrpSpPr>
        <p:grpSpPr>
          <a:xfrm>
            <a:off x="536609" y="2218030"/>
            <a:ext cx="1420384" cy="1278934"/>
            <a:chOff x="200950" y="1608750"/>
            <a:chExt cx="1882800" cy="1695300"/>
          </a:xfrm>
        </p:grpSpPr>
        <p:sp>
          <p:nvSpPr>
            <p:cNvPr id="123" name="Google Shape;123;p21"/>
            <p:cNvSpPr/>
            <p:nvPr/>
          </p:nvSpPr>
          <p:spPr>
            <a:xfrm>
              <a:off x="200950" y="1608750"/>
              <a:ext cx="1882800" cy="1695300"/>
            </a:xfrm>
            <a:prstGeom prst="rect">
              <a:avLst/>
            </a:prstGeom>
            <a:solidFill>
              <a:srgbClr val="A7A7A7"/>
            </a:solidFill>
            <a:ln>
              <a:noFill/>
            </a:ln>
          </p:spPr>
          <p:txBody>
            <a:bodyPr anchorCtr="0" anchor="ctr" bIns="68975" lIns="68975" spcFirstLastPara="1" rIns="68975" wrap="square" tIns="68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6"/>
            </a:p>
          </p:txBody>
        </p:sp>
        <p:sp>
          <p:nvSpPr>
            <p:cNvPr id="124" name="Google Shape;124;p21"/>
            <p:cNvSpPr txBox="1"/>
            <p:nvPr/>
          </p:nvSpPr>
          <p:spPr>
            <a:xfrm>
              <a:off x="982450" y="2230750"/>
              <a:ext cx="319800" cy="451200"/>
            </a:xfrm>
            <a:prstGeom prst="rect">
              <a:avLst/>
            </a:prstGeom>
            <a:solidFill>
              <a:srgbClr val="A7A7A7"/>
            </a:solidFill>
            <a:ln>
              <a:noFill/>
            </a:ln>
          </p:spPr>
          <p:txBody>
            <a:bodyPr anchorCtr="0" anchor="ctr" bIns="68975" lIns="68975" spcFirstLastPara="1" rIns="68975" wrap="square" tIns="68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7">
                  <a:solidFill>
                    <a:schemeClr val="dk1"/>
                  </a:solidFill>
                </a:rPr>
                <a:t>+</a:t>
              </a:r>
              <a:endParaRPr sz="1357">
                <a:solidFill>
                  <a:schemeClr val="dk1"/>
                </a:solidFill>
              </a:endParaRPr>
            </a:p>
          </p:txBody>
        </p:sp>
      </p:grpSp>
      <p:grpSp>
        <p:nvGrpSpPr>
          <p:cNvPr id="125" name="Google Shape;125;p21"/>
          <p:cNvGrpSpPr/>
          <p:nvPr/>
        </p:nvGrpSpPr>
        <p:grpSpPr>
          <a:xfrm>
            <a:off x="5241109" y="2218030"/>
            <a:ext cx="1420384" cy="1278934"/>
            <a:chOff x="200950" y="1608750"/>
            <a:chExt cx="1882800" cy="1695300"/>
          </a:xfrm>
        </p:grpSpPr>
        <p:sp>
          <p:nvSpPr>
            <p:cNvPr id="126" name="Google Shape;126;p21"/>
            <p:cNvSpPr/>
            <p:nvPr/>
          </p:nvSpPr>
          <p:spPr>
            <a:xfrm>
              <a:off x="200950" y="1608750"/>
              <a:ext cx="1882800" cy="1695300"/>
            </a:xfrm>
            <a:prstGeom prst="rect">
              <a:avLst/>
            </a:prstGeom>
            <a:solidFill>
              <a:srgbClr val="A7A7A7"/>
            </a:solidFill>
            <a:ln>
              <a:noFill/>
            </a:ln>
          </p:spPr>
          <p:txBody>
            <a:bodyPr anchorCtr="0" anchor="ctr" bIns="68975" lIns="68975" spcFirstLastPara="1" rIns="68975" wrap="square" tIns="68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6"/>
            </a:p>
          </p:txBody>
        </p:sp>
        <p:sp>
          <p:nvSpPr>
            <p:cNvPr id="127" name="Google Shape;127;p21"/>
            <p:cNvSpPr txBox="1"/>
            <p:nvPr/>
          </p:nvSpPr>
          <p:spPr>
            <a:xfrm>
              <a:off x="982450" y="2230750"/>
              <a:ext cx="319800" cy="451200"/>
            </a:xfrm>
            <a:prstGeom prst="rect">
              <a:avLst/>
            </a:prstGeom>
            <a:solidFill>
              <a:srgbClr val="A7A7A7"/>
            </a:solidFill>
            <a:ln>
              <a:noFill/>
            </a:ln>
          </p:spPr>
          <p:txBody>
            <a:bodyPr anchorCtr="0" anchor="ctr" bIns="68975" lIns="68975" spcFirstLastPara="1" rIns="68975" wrap="square" tIns="68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7">
                  <a:solidFill>
                    <a:schemeClr val="dk1"/>
                  </a:solidFill>
                </a:rPr>
                <a:t>+</a:t>
              </a:r>
              <a:endParaRPr sz="1357">
                <a:solidFill>
                  <a:schemeClr val="dk1"/>
                </a:solidFill>
              </a:endParaRPr>
            </a:p>
          </p:txBody>
        </p:sp>
      </p:grpSp>
      <p:sp>
        <p:nvSpPr>
          <p:cNvPr id="128" name="Google Shape;128;p21"/>
          <p:cNvSpPr/>
          <p:nvPr/>
        </p:nvSpPr>
        <p:spPr>
          <a:xfrm>
            <a:off x="6811392" y="2219700"/>
            <a:ext cx="1417200" cy="12756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6866750" y="2687550"/>
            <a:ext cx="1306500" cy="33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IMAGE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2106904" y="2219700"/>
            <a:ext cx="1417200" cy="12756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2162263" y="2687550"/>
            <a:ext cx="1306500" cy="33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INSTR.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6856" cy="571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713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713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6856" cy="571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71499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/>
          <p:nvPr/>
        </p:nvSpPr>
        <p:spPr>
          <a:xfrm>
            <a:off x="0" y="4908300"/>
            <a:ext cx="1804800" cy="8067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6856" cy="5715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/>
          <p:nvPr/>
        </p:nvSpPr>
        <p:spPr>
          <a:xfrm>
            <a:off x="0" y="4908300"/>
            <a:ext cx="1804800" cy="8067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/>
          <p:nvPr/>
        </p:nvSpPr>
        <p:spPr>
          <a:xfrm>
            <a:off x="5761575" y="1772700"/>
            <a:ext cx="1355700" cy="47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8"/>
          <p:cNvSpPr/>
          <p:nvPr/>
        </p:nvSpPr>
        <p:spPr>
          <a:xfrm>
            <a:off x="2323050" y="1772700"/>
            <a:ext cx="793800" cy="47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71321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/>
          <p:nvPr/>
        </p:nvSpPr>
        <p:spPr>
          <a:xfrm rot="-5400000">
            <a:off x="3313925" y="3038450"/>
            <a:ext cx="381000" cy="793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8"/>
          <p:cNvSpPr/>
          <p:nvPr/>
        </p:nvSpPr>
        <p:spPr>
          <a:xfrm rot="5400000">
            <a:off x="5449075" y="3038450"/>
            <a:ext cx="381000" cy="793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 txBox="1"/>
          <p:nvPr/>
        </p:nvSpPr>
        <p:spPr>
          <a:xfrm>
            <a:off x="2734475" y="3736950"/>
            <a:ext cx="153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Press left!</a:t>
            </a:r>
            <a:endParaRPr sz="1800">
              <a:solidFill>
                <a:srgbClr val="00FFFF"/>
              </a:solidFill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4869625" y="3736950"/>
            <a:ext cx="153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Press right!</a:t>
            </a:r>
            <a:endParaRPr sz="1800">
              <a:solidFill>
                <a:srgbClr val="00FFFF"/>
              </a:solidFill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3652200" y="4471450"/>
            <a:ext cx="18549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Press Spacebar to submit!</a:t>
            </a:r>
            <a:endParaRPr sz="1800">
              <a:solidFill>
                <a:srgbClr val="00FFFF"/>
              </a:solidFill>
            </a:endParaRPr>
          </a:p>
        </p:txBody>
      </p:sp>
      <p:pic>
        <p:nvPicPr>
          <p:cNvPr id="176" name="Google Shape;17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300" y="27775"/>
            <a:ext cx="2863052" cy="1788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/>
          <p:nvPr/>
        </p:nvSpPr>
        <p:spPr>
          <a:xfrm>
            <a:off x="1894350" y="1678925"/>
            <a:ext cx="1651200" cy="8505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577475" y="1467400"/>
            <a:ext cx="19527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(not shown)</a:t>
            </a:r>
            <a:endParaRPr sz="1800">
              <a:solidFill>
                <a:srgbClr val="00FFFF"/>
              </a:solidFill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4033125" y="463300"/>
            <a:ext cx="4812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Move the slider farther from the center when you are more confident of your answer!</a:t>
            </a:r>
            <a:endParaRPr sz="1800">
              <a:solidFill>
                <a:srgbClr val="00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/>
          <p:nvPr/>
        </p:nvSpPr>
        <p:spPr>
          <a:xfrm>
            <a:off x="3608925" y="3036350"/>
            <a:ext cx="1936800" cy="193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0"/>
          <p:cNvSpPr/>
          <p:nvPr/>
        </p:nvSpPr>
        <p:spPr>
          <a:xfrm>
            <a:off x="3608925" y="756700"/>
            <a:ext cx="1936800" cy="193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3"/>
            <a:ext cx="9144001" cy="57132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30"/>
          <p:cNvCxnSpPr>
            <a:stCxn id="190" idx="1"/>
            <a:endCxn id="189" idx="1"/>
          </p:cNvCxnSpPr>
          <p:nvPr/>
        </p:nvCxnSpPr>
        <p:spPr>
          <a:xfrm>
            <a:off x="3608925" y="1725100"/>
            <a:ext cx="600" cy="2279700"/>
          </a:xfrm>
          <a:prstGeom prst="curvedConnector3">
            <a:avLst>
              <a:gd fmla="val -129645833" name="adj1"/>
            </a:avLst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3" name="Google Shape;193;p30"/>
          <p:cNvSpPr txBox="1"/>
          <p:nvPr/>
        </p:nvSpPr>
        <p:spPr>
          <a:xfrm>
            <a:off x="84675" y="2698800"/>
            <a:ext cx="2667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These may switch positions between trials!</a:t>
            </a:r>
            <a:endParaRPr sz="1800">
              <a:solidFill>
                <a:srgbClr val="00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/>
          <p:nvPr/>
        </p:nvSpPr>
        <p:spPr>
          <a:xfrm>
            <a:off x="5761575" y="1772700"/>
            <a:ext cx="1355700" cy="47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1"/>
          <p:cNvSpPr/>
          <p:nvPr/>
        </p:nvSpPr>
        <p:spPr>
          <a:xfrm>
            <a:off x="2323050" y="1772700"/>
            <a:ext cx="793800" cy="47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71321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1"/>
          <p:cNvSpPr txBox="1"/>
          <p:nvPr/>
        </p:nvSpPr>
        <p:spPr>
          <a:xfrm>
            <a:off x="3246150" y="375200"/>
            <a:ext cx="26670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These may switch positions between trials!</a:t>
            </a:r>
            <a:endParaRPr sz="1800">
              <a:solidFill>
                <a:srgbClr val="00FFFF"/>
              </a:solidFill>
            </a:endParaRPr>
          </a:p>
        </p:txBody>
      </p:sp>
      <p:cxnSp>
        <p:nvCxnSpPr>
          <p:cNvPr id="202" name="Google Shape;202;p31"/>
          <p:cNvCxnSpPr>
            <a:stCxn id="199" idx="0"/>
            <a:endCxn id="198" idx="0"/>
          </p:cNvCxnSpPr>
          <p:nvPr/>
        </p:nvCxnSpPr>
        <p:spPr>
          <a:xfrm flipH="1" rot="-5400000">
            <a:off x="4579350" y="-86700"/>
            <a:ext cx="600" cy="3719400"/>
          </a:xfrm>
          <a:prstGeom prst="curvedConnector3">
            <a:avLst>
              <a:gd fmla="val -116416667" name="adj1"/>
            </a:avLst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A7A7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125" y="0"/>
            <a:ext cx="5897879" cy="3696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29150"/>
            <a:ext cx="5896348" cy="3684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32"/>
          <p:cNvCxnSpPr/>
          <p:nvPr/>
        </p:nvCxnSpPr>
        <p:spPr>
          <a:xfrm flipH="1">
            <a:off x="3702575" y="1834575"/>
            <a:ext cx="2179200" cy="20514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0" name="Google Shape;210;p32"/>
          <p:cNvSpPr txBox="1"/>
          <p:nvPr/>
        </p:nvSpPr>
        <p:spPr>
          <a:xfrm>
            <a:off x="5049175" y="2796350"/>
            <a:ext cx="26670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Response method may switch between trials!</a:t>
            </a:r>
            <a:endParaRPr sz="1800">
              <a:solidFill>
                <a:srgbClr val="00FFFF"/>
              </a:solidFill>
            </a:endParaRPr>
          </a:p>
        </p:txBody>
      </p:sp>
      <p:sp>
        <p:nvSpPr>
          <p:cNvPr id="211" name="Google Shape;211;p32"/>
          <p:cNvSpPr/>
          <p:nvPr/>
        </p:nvSpPr>
        <p:spPr>
          <a:xfrm>
            <a:off x="0" y="4908300"/>
            <a:ext cx="1804800" cy="8067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